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基于 YAML 配置的水利模型通用对接框架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12064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CBD5E1"/>
                </a:solidFill>
                <a:latin typeface="Microsoft YaHei"/>
              </a:rPr>
              <a:t>面向 HBV / SWAT / APEX 等模型的参数写入、仿真执行、结果提取与指标评估一体化流程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2971800" cy="457200"/>
          </a:xfrm>
          <a:prstGeom prst="roundRect">
            <a:avLst/>
          </a:prstGeom>
          <a:solidFill>
            <a:srgbClr val="E2E8F0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核心思想：把“参数改写 - 模型运行 - 结果提取 - 指标计算”封装成统一流水线，直接对接 UQ / 优化算法。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490472" cy="914400"/>
          </a:xfrm>
          <a:prstGeom prst="roundRect">
            <a:avLst/>
          </a:prstGeom>
          <a:solidFill>
            <a:srgbClr val="2563EB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YAML 配置</a:t>
            </a:r>
          </a:p>
          <a:p>
            <a:pPr algn="ctr"/>
            <a:r>
              <a:rPr sz="1050" b="0">
                <a:solidFill>
                  <a:srgbClr val="EFF6FF"/>
                </a:solidFill>
                <a:latin typeface="Microsoft YaHei"/>
              </a:rPr>
              <a:t>load_config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39112" y="1828800"/>
            <a:ext cx="1490472" cy="914400"/>
          </a:xfrm>
          <a:prstGeom prst="roundRect">
            <a:avLst/>
          </a:prstGeom>
          <a:solidFill>
            <a:srgbClr val="0EA5E9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参数映射</a:t>
            </a:r>
          </a:p>
          <a:p>
            <a:pPr algn="ctr"/>
            <a:r>
              <a:rPr sz="1050" b="0">
                <a:solidFill>
                  <a:srgbClr val="EFF6FF"/>
                </a:solidFill>
                <a:latin typeface="Microsoft YaHei"/>
              </a:rPr>
              <a:t>ParamManager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66744" y="1828800"/>
            <a:ext cx="1490472" cy="914400"/>
          </a:xfrm>
          <a:prstGeom prst="roundRect">
            <a:avLst/>
          </a:prstGeom>
          <a:solidFill>
            <a:srgbClr val="F9731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模型运行</a:t>
            </a:r>
          </a:p>
          <a:p>
            <a:pPr algn="ctr"/>
            <a:r>
              <a:rPr sz="1050" b="0">
                <a:solidFill>
                  <a:srgbClr val="EFF6FF"/>
                </a:solidFill>
                <a:latin typeface="Microsoft YaHei"/>
              </a:rPr>
              <a:t>SimModel / subprocess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94376" y="1828800"/>
            <a:ext cx="1490472" cy="914400"/>
          </a:xfrm>
          <a:prstGeom prst="roundRect">
            <a:avLst/>
          </a:prstGeom>
          <a:solidFill>
            <a:srgbClr val="9333E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结果提取</a:t>
            </a:r>
          </a:p>
          <a:p>
            <a:pPr algn="ctr"/>
            <a:r>
              <a:rPr sz="1050" b="0">
                <a:solidFill>
                  <a:srgbClr val="EFF6FF"/>
                </a:solidFill>
                <a:latin typeface="Microsoft YaHei"/>
              </a:rPr>
              <a:t>SeriesExtractor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22008" y="1828800"/>
            <a:ext cx="1490472" cy="914400"/>
          </a:xfrm>
          <a:prstGeom prst="roundRect">
            <a:avLst/>
          </a:prstGeom>
          <a:solidFill>
            <a:srgbClr val="DC262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指标评估</a:t>
            </a:r>
          </a:p>
          <a:p>
            <a:pPr algn="ctr"/>
            <a:r>
              <a:rPr sz="1050" b="0">
                <a:solidFill>
                  <a:srgbClr val="EFF6FF"/>
                </a:solidFill>
                <a:latin typeface="Microsoft YaHei"/>
              </a:rPr>
              <a:t>Evaluator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1828800"/>
            <a:ext cx="1490472" cy="914400"/>
          </a:xfrm>
          <a:prstGeom prst="roundRect">
            <a:avLst/>
          </a:prstGeom>
          <a:solidFill>
            <a:srgbClr val="16A34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结果归档</a:t>
            </a:r>
          </a:p>
          <a:p>
            <a:pPr algn="ctr"/>
            <a:r>
              <a:rPr sz="1050" b="0">
                <a:solidFill>
                  <a:srgbClr val="EFF6FF"/>
                </a:solidFill>
                <a:latin typeface="Microsoft YaHei"/>
              </a:rPr>
              <a:t>RunReporter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01952" y="2286000"/>
            <a:ext cx="137160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529584" y="2286000"/>
            <a:ext cx="137160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57216" y="2286000"/>
            <a:ext cx="137160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84848" y="2286000"/>
            <a:ext cx="137160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12480" y="2286000"/>
            <a:ext cx="137160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1480" y="3108960"/>
            <a:ext cx="3886200" cy="237744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</a:rPr>
              <a:t>模块职责</a:t>
            </a:r>
          </a:p>
          <a:p>
            <a:pPr algn="l"/>
            <a:r>
              <a:rPr sz="1150" b="0">
                <a:solidFill>
                  <a:srgbClr val="334155"/>
                </a:solidFill>
                <a:latin typeface="Microsoft YaHei"/>
              </a:rPr>
              <a:t>- 配置文件统一定义项目路径、参数、序列、目标与约束。</a:t>
            </a:r>
          </a:p>
          <a:p>
            <a:pPr algn="l"/>
            <a:r>
              <a:rPr sz="1150" b="0">
                <a:solidFill>
                  <a:srgbClr val="334155"/>
                </a:solidFill>
                <a:latin typeface="Microsoft YaHei"/>
              </a:rPr>
              <a:t>- 支持设计变量 X 到物理参数 P 的映射与可选变换。</a:t>
            </a:r>
          </a:p>
          <a:p>
            <a:pPr algn="l"/>
            <a:r>
              <a:rPr sz="1150" b="0">
                <a:solidFill>
                  <a:srgbClr val="334155"/>
                </a:solidFill>
                <a:latin typeface="Microsoft YaHei"/>
              </a:rPr>
              <a:t>- 自动复制实例目录并行运行外部模型，支持超时与异常捕获。</a:t>
            </a:r>
          </a:p>
          <a:p>
            <a:pPr algn="l"/>
            <a:r>
              <a:rPr sz="1150" b="0">
                <a:solidFill>
                  <a:srgbClr val="334155"/>
                </a:solidFill>
                <a:latin typeface="Microsoft YaHei"/>
              </a:rPr>
              <a:t>- 支持定宽字段/分列提取，也支持表达式和函数组合派生序列。</a:t>
            </a:r>
          </a:p>
          <a:p>
            <a:pPr algn="l"/>
            <a:r>
              <a:rPr sz="1150" b="0">
                <a:solidFill>
                  <a:srgbClr val="334155"/>
                </a:solidFill>
                <a:latin typeface="Microsoft YaHei"/>
              </a:rPr>
              <a:t>- 将结果异步写入 SQLite + CSV，并记录 warning / error 日志。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108960"/>
            <a:ext cx="3657600" cy="237744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</a:rPr>
              <a:t>技术亮点</a:t>
            </a:r>
          </a:p>
          <a:p>
            <a:pPr algn="l"/>
            <a:r>
              <a:rPr sz="1150" b="0">
                <a:solidFill>
                  <a:srgbClr val="334155"/>
                </a:solidFill>
                <a:latin typeface="Microsoft YaHei"/>
              </a:rPr>
              <a:t>- 配置驱动，减少针对单一模型的硬编码。</a:t>
            </a:r>
          </a:p>
          <a:p>
            <a:pPr algn="l"/>
            <a:r>
              <a:rPr sz="1150" b="0">
                <a:solidFill>
                  <a:srgbClr val="334155"/>
                </a:solidFill>
                <a:latin typeface="Microsoft YaHei"/>
              </a:rPr>
              <a:t>- 模型无关，可复用到 HBV、SWAT、APEX 等外部程序。</a:t>
            </a:r>
          </a:p>
          <a:p>
            <a:pPr algn="l"/>
            <a:r>
              <a:rPr sz="1150" b="0">
                <a:solidFill>
                  <a:srgbClr val="334155"/>
                </a:solidFill>
                <a:latin typeface="Microsoft YaHei"/>
              </a:rPr>
              <a:t>- 内置 R2 / RMSE / MSE，并支持外部 Python 函数扩展。</a:t>
            </a:r>
          </a:p>
          <a:p>
            <a:pPr algn="l"/>
            <a:r>
              <a:rPr sz="1150" b="0">
                <a:solidFill>
                  <a:srgbClr val="334155"/>
                </a:solidFill>
                <a:latin typeface="Microsoft YaHei"/>
              </a:rPr>
              <a:t>- 支持并行批量评估，适合优化、率定和不确定性分析。</a:t>
            </a:r>
          </a:p>
          <a:p>
            <a:pPr algn="l"/>
            <a:r>
              <a:rPr sz="1150" b="0">
                <a:solidFill>
                  <a:srgbClr val="334155"/>
                </a:solidFill>
                <a:latin typeface="Microsoft YaHei"/>
              </a:rPr>
              <a:t>- 具备边界截断、错误回退、日志归档等工程化能力。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108960"/>
            <a:ext cx="3337560" cy="2377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600" b="1">
                <a:solidFill>
                  <a:srgbClr val="0F172A"/>
                </a:solidFill>
                <a:latin typeface="Microsoft YaHei"/>
              </a:rPr>
              <a:t>典型输入示意</a:t>
            </a:r>
          </a:p>
          <a:p>
            <a:pPr algn="l"/>
            <a:r>
              <a:rPr sz="1100" b="0">
                <a:solidFill>
                  <a:srgbClr val="1E293B"/>
                </a:solidFill>
                <a:latin typeface="Consolas"/>
              </a:rPr>
              <a:t>version: general</a:t>
            </a:r>
          </a:p>
          <a:p>
            <a:pPr algn="l"/>
            <a:r>
              <a:rPr sz="1100" b="0">
                <a:solidFill>
                  <a:srgbClr val="1E293B"/>
                </a:solidFill>
                <a:latin typeface="Consolas"/>
              </a:rPr>
              <a:t>basic: {command: APEX1501_rel32.exe}</a:t>
            </a:r>
          </a:p>
          <a:p>
            <a:pPr algn="l"/>
            <a:r>
              <a:rPr sz="1100" b="0">
                <a:solidFill>
                  <a:srgbClr val="1E293B"/>
                </a:solidFill>
                <a:latin typeface="Consolas"/>
              </a:rPr>
              <a:t>series: s1 -&gt; sim/obs</a:t>
            </a:r>
          </a:p>
          <a:p>
            <a:pPr algn="l"/>
            <a:r>
              <a:rPr sz="1100" b="0">
                <a:solidFill>
                  <a:srgbClr val="1E293B"/>
                </a:solidFill>
                <a:latin typeface="Consolas"/>
              </a:rPr>
              <a:t>derived: s1_r2 = R2(sim, obs)</a:t>
            </a:r>
          </a:p>
          <a:p>
            <a:pPr algn="l"/>
            <a:r>
              <a:rPr sz="1100" b="0">
                <a:solidFill>
                  <a:srgbClr val="1E293B"/>
                </a:solidFill>
                <a:latin typeface="Consolas"/>
              </a:rPr>
              <a:t>objectives: o1 &lt;- s1_r2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5760720"/>
            <a:ext cx="11338560" cy="56692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Microsoft YaHei"/>
              </a:rPr>
              <a:t>一句话总结：该框架将外部水利模型封装为统一可调用的问题对象，可直接接入 UQPyL 的优化、率定与不确定性分析流程。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